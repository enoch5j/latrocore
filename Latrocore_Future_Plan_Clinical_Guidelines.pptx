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6583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03753"/>
                </a:solidFill>
              </a:rPr>
              <a:t>LATROCORE</a:t>
            </a:r>
          </a:p>
          <a:p>
            <a:r>
              <a:rPr sz="2600" b="1">
                <a:solidFill>
                  <a:srgbClr val="16918F"/>
                </a:solidFill>
              </a:rPr>
              <a:t>Diabetes Care &amp; Medication Management</a:t>
            </a:r>
          </a:p>
          <a:p>
            <a:r>
              <a:rPr sz="1400">
                <a:solidFill>
                  <a:srgbClr val="5D6972"/>
                </a:solidFill>
              </a:rPr>
              <a:t>A specialized module inside the integrated digital prescription and healthcare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21040" y="960120"/>
            <a:ext cx="2331720" cy="4297680"/>
          </a:xfrm>
          <a:prstGeom prst="roundRect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39912" y="1280160"/>
            <a:ext cx="2093976" cy="37307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435608"/>
            <a:ext cx="18745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918F"/>
                </a:solidFill>
              </a:defRPr>
            </a:pPr>
            <a:r>
              <a:t>LATROCORE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828800"/>
            <a:ext cx="1874519" cy="658368"/>
          </a:xfrm>
          <a:prstGeom prst="roundRect">
            <a:avLst/>
          </a:prstGeom>
          <a:solidFill>
            <a:srgbClr val="E2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8512" y="1920240"/>
            <a:ext cx="163677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Fasting glucose</a:t>
            </a:r>
            <a:br/>
            <a:r>
              <a:t>112 mg/dL</a:t>
            </a:r>
          </a:p>
        </p:txBody>
      </p:sp>
      <p:sp>
        <p:nvSpPr>
          <p:cNvPr id="9" name="Rectangle 8"/>
          <p:cNvSpPr/>
          <p:nvPr/>
        </p:nvSpPr>
        <p:spPr>
          <a:xfrm>
            <a:off x="8549640" y="2697480"/>
            <a:ext cx="1874519" cy="9144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631936" y="3182112"/>
            <a:ext cx="301752" cy="201168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33688" y="3182112"/>
            <a:ext cx="301752" cy="109727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9235440" y="2971800"/>
            <a:ext cx="310896" cy="320039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46336" y="2971800"/>
            <a:ext cx="310896" cy="13716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0" y="3813048"/>
            <a:ext cx="1783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Medication 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087368"/>
            <a:ext cx="1783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Activity     30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361688"/>
            <a:ext cx="1783079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Next review  14 Oct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92040"/>
            <a:ext cx="1737360" cy="640080"/>
          </a:xfrm>
          <a:prstGeom prst="roundRect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10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Prescription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4892040"/>
            <a:ext cx="1737360" cy="640080"/>
          </a:xfrm>
          <a:prstGeom prst="round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010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Medicine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892040"/>
            <a:ext cx="1737360" cy="640080"/>
          </a:xfrm>
          <a:prstGeom prst="roundRect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010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Monitoring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892040"/>
            <a:ext cx="1737360" cy="640080"/>
          </a:xfrm>
          <a:prstGeom prst="roundRect">
            <a:avLst/>
          </a:prstGeom>
          <a:solidFill>
            <a:srgbClr val="69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5010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892040"/>
            <a:ext cx="1737360" cy="640080"/>
          </a:xfrm>
          <a:prstGeom prst="roundRect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0" y="5010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Care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972"/>
                </a:solidFill>
              </a:defRPr>
            </a:pPr>
            <a:r>
              <a:t>LATROCORE  •  Diabetes Care Module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Why add a dedicated Diabetes Module?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Turn Latrocore from a medication platform into a chronic-care coordination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520440" cy="1874519"/>
          </a:xfrm>
          <a:prstGeom prst="roundRect">
            <a:avLst/>
          </a:prstGeom>
          <a:solidFill>
            <a:srgbClr val="E2F6F4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918F"/>
                </a:solidFill>
              </a:defRPr>
            </a:pPr>
            <a:r>
              <a:t>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47088"/>
            <a:ext cx="319125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Glucose readings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HbA1c &amp; investigations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Weight / BP / activity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Trend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874519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4356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69AA"/>
                </a:solidFill>
              </a:defRPr>
            </a:pPr>
            <a:r>
              <a:t>Manage medicines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847088"/>
            <a:ext cx="319125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Prescription-linked schedule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Adherence &amp; missed doses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Refill reminders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Interaction / safety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520440" cy="1874519"/>
          </a:xfrm>
          <a:prstGeom prst="roundRect">
            <a:avLst/>
          </a:prstGeom>
          <a:solidFill>
            <a:srgbClr val="EAF7EB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4356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19153"/>
                </a:solidFill>
              </a:defRPr>
            </a:pPr>
            <a:r>
              <a:t>Coordinate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47088"/>
            <a:ext cx="319125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Patient ↔ pharmacist ↔ doctor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AI education &amp; navigation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Screening reminders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Follow-up workflow</a:t>
            </a:r>
          </a:p>
        </p:txBody>
      </p:sp>
      <p:sp>
        <p:nvSpPr>
          <p:cNvPr id="15" name="Oval 14"/>
          <p:cNvSpPr/>
          <p:nvPr/>
        </p:nvSpPr>
        <p:spPr>
          <a:xfrm>
            <a:off x="5349240" y="3794760"/>
            <a:ext cx="868680" cy="868680"/>
          </a:xfrm>
          <a:prstGeom prst="ellipse">
            <a:avLst/>
          </a:prstGeom>
          <a:solidFill>
            <a:srgbClr val="69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3803904"/>
            <a:ext cx="868680" cy="8503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7" name="Oval 16"/>
          <p:cNvSpPr/>
          <p:nvPr/>
        </p:nvSpPr>
        <p:spPr>
          <a:xfrm>
            <a:off x="2926080" y="4160520"/>
            <a:ext cx="594360" cy="594360"/>
          </a:xfrm>
          <a:prstGeom prst="ellipse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69663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78231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Eyes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3223260" y="4457700"/>
            <a:ext cx="2555747" cy="196596"/>
          </a:xfrm>
          <a:prstGeom prst="line">
            <a:avLst/>
          </a:prstGeom>
          <a:ln w="1524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498079" y="4160520"/>
            <a:ext cx="594360" cy="59436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4169663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79" y="478231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Heart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779007" y="4457700"/>
            <a:ext cx="2016252" cy="196596"/>
          </a:xfrm>
          <a:prstGeom prst="line">
            <a:avLst/>
          </a:prstGeom>
          <a:ln w="1524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931920" y="5166360"/>
            <a:ext cx="594360" cy="59436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5175504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7881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Kidneys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4229100" y="4654296"/>
            <a:ext cx="1549907" cy="809244"/>
          </a:xfrm>
          <a:prstGeom prst="line">
            <a:avLst/>
          </a:prstGeom>
          <a:ln w="1524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92240" y="5166360"/>
            <a:ext cx="594360" cy="594360"/>
          </a:xfrm>
          <a:prstGeom prst="ellipse">
            <a:avLst/>
          </a:prstGeom>
          <a:solidFill>
            <a:srgbClr val="EE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75504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788152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Feet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79007" y="4654296"/>
            <a:ext cx="1010413" cy="809244"/>
          </a:xfrm>
          <a:prstGeom prst="line">
            <a:avLst/>
          </a:prstGeom>
          <a:ln w="1524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972"/>
                </a:solidFill>
              </a:defRPr>
            </a:pPr>
            <a:r>
              <a:t>LATROCORE  •  Diabetes Care Module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1. Blood Glucose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Capture readings, context and trends so the care team can review a patient's pattern.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286000" cy="4389120"/>
          </a:xfrm>
          <a:prstGeom prst="roundRect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645919"/>
            <a:ext cx="2048256" cy="382219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0136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918F"/>
                </a:solidFill>
              </a:defRPr>
            </a:pPr>
            <a:r>
              <a:t>LATROCORE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94560"/>
            <a:ext cx="1828800" cy="658368"/>
          </a:xfrm>
          <a:prstGeom prst="roundRect">
            <a:avLst/>
          </a:prstGeom>
          <a:solidFill>
            <a:srgbClr val="E2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286000"/>
            <a:ext cx="15910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Fasting glucose</a:t>
            </a:r>
            <a:br/>
            <a:r>
              <a:t>112 mg/dL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063239"/>
            <a:ext cx="1828800" cy="9144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50976" y="3547872"/>
            <a:ext cx="301752" cy="201167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52728" y="3547872"/>
            <a:ext cx="301752" cy="109728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54480" y="3337560"/>
            <a:ext cx="310896" cy="32004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65376" y="3337560"/>
            <a:ext cx="310896" cy="13716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78808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Medication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53128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Activity     30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27448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Next review  14 Oct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1371600"/>
            <a:ext cx="3749039" cy="1508760"/>
          </a:xfrm>
          <a:prstGeom prst="roundRect">
            <a:avLst/>
          </a:prstGeom>
          <a:solidFill>
            <a:srgbClr val="E2F6F4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1481328"/>
            <a:ext cx="3419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6918F"/>
                </a:solidFill>
              </a:defRPr>
            </a:pPr>
            <a:r>
              <a:t>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1892807"/>
            <a:ext cx="3419856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Fasting / pre-meal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Post-meal / random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HbA1c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CGM data where supported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063240"/>
            <a:ext cx="3749039" cy="1508760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02152" y="3172968"/>
            <a:ext cx="3419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69AA"/>
                </a:solidFill>
              </a:defRPr>
            </a:pPr>
            <a:r>
              <a:t>Smart logging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584448"/>
            <a:ext cx="3419856" cy="896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Time + meal context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Medicine taken / missed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Activity &amp; symptoms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Notes for clinician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754880"/>
            <a:ext cx="3749039" cy="1143000"/>
          </a:xfrm>
          <a:prstGeom prst="roundRect">
            <a:avLst/>
          </a:prstGeom>
          <a:solidFill>
            <a:srgbClr val="EAF7EB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02152" y="4864608"/>
            <a:ext cx="3419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19153"/>
                </a:solidFill>
              </a:defRPr>
            </a:pPr>
            <a:r>
              <a:t>Trend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5276088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Graphs, patterns and clinician-defined alerts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1508760"/>
            <a:ext cx="3108960" cy="1965960"/>
          </a:xfrm>
          <a:prstGeom prst="roundRect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1874519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03911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918F"/>
                </a:solidFill>
              </a:defRPr>
            </a:pPr>
            <a:r>
              <a:t>112 mg/dL</a:t>
            </a:r>
          </a:p>
        </p:txBody>
      </p:sp>
      <p:sp>
        <p:nvSpPr>
          <p:cNvPr id="31" name="Oval 30"/>
          <p:cNvSpPr/>
          <p:nvPr/>
        </p:nvSpPr>
        <p:spPr>
          <a:xfrm>
            <a:off x="8001000" y="3977639"/>
            <a:ext cx="594360" cy="59436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3986783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33" name="Oval 32"/>
          <p:cNvSpPr/>
          <p:nvPr/>
        </p:nvSpPr>
        <p:spPr>
          <a:xfrm>
            <a:off x="8961120" y="3977639"/>
            <a:ext cx="594360" cy="594360"/>
          </a:xfrm>
          <a:prstGeom prst="ellipse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3986783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35" name="Oval 34"/>
          <p:cNvSpPr/>
          <p:nvPr/>
        </p:nvSpPr>
        <p:spPr>
          <a:xfrm>
            <a:off x="9921240" y="3977639"/>
            <a:ext cx="594360" cy="594360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3986783"/>
            <a:ext cx="594360" cy="5760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61772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D6972"/>
                </a:solidFill>
              </a:defRPr>
            </a:pPr>
            <a:r>
              <a:t>Fasting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61772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D6972"/>
                </a:solidFill>
              </a:defRPr>
            </a:pPr>
            <a:r>
              <a:t>Post-meal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55480" y="461772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5D6972"/>
                </a:solidFill>
              </a:defRPr>
            </a:pPr>
            <a:r>
              <a:t>Activity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972"/>
                </a:solidFill>
              </a:defRPr>
            </a:pPr>
            <a:r>
              <a:t>LATROCORE  •  Diabetes Care Module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320040"/>
            <a:ext cx="11155680" cy="548640"/>
          </a:xfrm>
        </p:spPr>
        <p:txBody>
          <a:bodyPr/>
          <a:lstStyle/>
          <a:p>
            <a:pPr>
              <a:defRPr sz="2500" b="1">
                <a:solidFill>
                  <a:srgbClr val="143255"/>
                </a:solidFill>
              </a:defRPr>
            </a:pPr>
            <a:r>
              <a:t>4. AI Voice Assistant &amp; Multilingual Health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F6E"/>
                </a:solidFill>
              </a:defRPr>
            </a:pPr>
            <a:r>
              <a:t>Natural voice interaction + evidence-based health guidance across organ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B78"/>
                </a:solidFill>
              </a:defRPr>
            </a:pPr>
            <a:r>
              <a:t>Voice Interaction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Natural voice conversation with the app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Two-way voice: listen → understand → respond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AI-powered voice calling for health questions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Voice-to-text + text-to-voice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325880"/>
            <a:ext cx="36576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B78"/>
                </a:solidFill>
              </a:defRPr>
            </a:pPr>
            <a:r>
              <a:t>Health-Guideline Based AI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Evidence-based, validated health information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Organ-specific knowledge and guidance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Heart &amp; cardiovascular system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Kidney &amp; urinary system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Respiratory &amp; neurological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9016" y="13258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B78"/>
                </a:solidFill>
              </a:defRPr>
            </a:pPr>
            <a:r>
              <a:t>Multilingual Voice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English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Tamil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Hindi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Switch languages during a conversation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Accessible 24/7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29000"/>
            <a:ext cx="5623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B78"/>
                </a:solidFill>
              </a:defRPr>
            </a:pPr>
            <a:r>
              <a:t>Organ-Specific Health Knowledge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Gastrointestinal system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Musculoskeletal system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Endocrine system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Dermatology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Maternal &amp; reproductive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3429000"/>
            <a:ext cx="5312664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4B78"/>
                </a:solidFill>
              </a:defRPr>
            </a:pPr>
            <a:r>
              <a:t>Personalized &amp; Safe Guidance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Uses user-provided symptoms, medicines and conditions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Provides relevant health education and navigation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Identifies emergency warning signs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Directs users to appropriate professional care</a:t>
            </a:r>
          </a:p>
          <a:p>
            <a:pPr>
              <a:spcAft>
                <a:spcPts val="200"/>
              </a:spcAft>
              <a:defRPr sz="1019">
                <a:solidFill>
                  <a:srgbClr val="2D3741"/>
                </a:solidFill>
              </a:defRPr>
            </a:pPr>
            <a:r>
              <a:t>• AI supports care — it does not replace doctors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40680"/>
            <a:ext cx="11146536" cy="640080"/>
          </a:xfrm>
          <a:prstGeom prst="roundRect">
            <a:avLst/>
          </a:prstGeom>
          <a:solidFill>
            <a:srgbClr val="E6F0F8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4B6E"/>
                </a:solidFill>
              </a:defRPr>
            </a:pPr>
            <a:r>
              <a:t>LATROCORE  •  Voice AI → Health Guidelines → Organ Knowledge → Multilingual Support → Safety 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2. Diabetes Medication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Connect every diabetes medicine to the prescription, schedule, adherence and safety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743200" cy="1920240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2414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69AA"/>
                </a:solidFill>
              </a:defRPr>
            </a:pPr>
            <a:r>
              <a:t>Prescription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847088"/>
            <a:ext cx="24140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Medicine name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Dose / route / frequency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Before or after food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Start / stop / review 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20440"/>
            <a:ext cx="2743200" cy="1920240"/>
          </a:xfrm>
          <a:prstGeom prst="roundRect">
            <a:avLst/>
          </a:prstGeom>
          <a:solidFill>
            <a:srgbClr val="EAF7EB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630168"/>
            <a:ext cx="2414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19153"/>
                </a:solidFill>
              </a:defRPr>
            </a:pPr>
            <a:r>
              <a:t>Adherence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041648"/>
            <a:ext cx="24140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Dose reminders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Missed-dose logging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Adherence history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Refill reminders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325880"/>
            <a:ext cx="2743200" cy="1920240"/>
          </a:xfrm>
          <a:prstGeom prst="roundRect">
            <a:avLst/>
          </a:prstGeom>
          <a:solidFill>
            <a:srgbClr val="FFF1E5"/>
          </a:solidFill>
          <a:ln w="15240">
            <a:solidFill>
              <a:srgbClr val="EE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435607"/>
            <a:ext cx="2414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E7E37"/>
                </a:solidFill>
              </a:defRPr>
            </a:pPr>
            <a:r>
              <a:t>Medication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847088"/>
            <a:ext cx="24140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Drug interactions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Duplicate therapy flags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Side-effect education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Pharmacist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3520440"/>
            <a:ext cx="2743200" cy="1920240"/>
          </a:xfrm>
          <a:prstGeom prst="roundRect">
            <a:avLst/>
          </a:prstGeom>
          <a:solidFill>
            <a:srgbClr val="F1ECF9"/>
          </a:solidFill>
          <a:ln w="15240">
            <a:solidFill>
              <a:srgbClr val="694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3630168"/>
            <a:ext cx="2414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94C9D"/>
                </a:solidFill>
              </a:defRPr>
            </a:pPr>
            <a:r>
              <a:t>Insulin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4041648"/>
            <a:ext cx="24140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Injection schedule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Storage education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Missed-dose questions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Clinician-controlled changes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1828800"/>
            <a:ext cx="658368" cy="658368"/>
          </a:xfrm>
          <a:prstGeom prst="ellipse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1837943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3753"/>
                </a:solidFill>
              </a:defRPr>
            </a:pPr>
            <a:r>
              <a:t>Doctor</a:t>
            </a:r>
          </a:p>
          <a:p>
            <a:pPr algn="ctr">
              <a:defRPr sz="850">
                <a:solidFill>
                  <a:srgbClr val="5D6972"/>
                </a:solidFill>
              </a:defRPr>
            </a:pPr>
            <a:r>
              <a:t>Prescription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70648" y="2157984"/>
            <a:ext cx="576072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046720" y="1828800"/>
            <a:ext cx="658368" cy="658368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837943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56032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3753"/>
                </a:solidFill>
              </a:defRPr>
            </a:pPr>
            <a:r>
              <a:t>Latrocore</a:t>
            </a:r>
          </a:p>
          <a:p>
            <a:pPr algn="ctr">
              <a:defRPr sz="850">
                <a:solidFill>
                  <a:srgbClr val="5D6972"/>
                </a:solidFill>
              </a:defRPr>
            </a:pPr>
            <a:r>
              <a:t>Schedule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05088" y="2157984"/>
            <a:ext cx="576072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81160" y="1828800"/>
            <a:ext cx="658368" cy="658368"/>
          </a:xfrm>
          <a:prstGeom prst="ellipse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837943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56032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3753"/>
                </a:solidFill>
              </a:defRPr>
            </a:pPr>
            <a:r>
              <a:t>Patient</a:t>
            </a:r>
          </a:p>
          <a:p>
            <a:pPr algn="ctr">
              <a:defRPr sz="850">
                <a:solidFill>
                  <a:srgbClr val="5D6972"/>
                </a:solidFill>
              </a:defRPr>
            </a:pPr>
            <a:r>
              <a:t>Take / record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939528" y="2157984"/>
            <a:ext cx="576072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515600" y="1828800"/>
            <a:ext cx="658368" cy="6583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1837943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2560320"/>
            <a:ext cx="1143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3753"/>
                </a:solidFill>
              </a:defRPr>
            </a:pPr>
            <a:r>
              <a:t>Pharmacist</a:t>
            </a:r>
          </a:p>
          <a:p>
            <a:pPr algn="ctr">
              <a:defRPr sz="850">
                <a:solidFill>
                  <a:srgbClr val="5D6972"/>
                </a:solidFill>
              </a:defRPr>
            </a:pPr>
            <a:r>
              <a:t>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20840" y="3977639"/>
            <a:ext cx="4800600" cy="1234440"/>
          </a:xfrm>
          <a:prstGeom prst="roundRect">
            <a:avLst/>
          </a:prstGeom>
          <a:solidFill>
            <a:srgbClr val="FCEBEB"/>
          </a:solidFill>
          <a:ln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4187952"/>
            <a:ext cx="43891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D4141"/>
                </a:solidFill>
              </a:defRPr>
            </a:pPr>
            <a:r>
              <a:t>Safety rule</a:t>
            </a:r>
          </a:p>
          <a:p>
            <a:pPr>
              <a:defRPr sz="1050">
                <a:solidFill>
                  <a:srgbClr val="23282C"/>
                </a:solidFill>
              </a:defRPr>
            </a:pPr>
            <a:r>
              <a:t>Latrocore should not independently change insulin or other medicine doses. Treatment changes remain with the authorized clinician.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3. Hypoglycemia &amp; Hyperglycemia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Give patients clear safety information and escalation pathways without replacing clinical care.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920240"/>
          </a:xfrm>
          <a:prstGeom prst="roundRect">
            <a:avLst/>
          </a:prstGeom>
          <a:solidFill>
            <a:srgbClr val="FCEBEB"/>
          </a:solidFill>
          <a:ln w="1524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49286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D4141"/>
                </a:solidFill>
              </a:defRPr>
            </a:pPr>
            <a:r>
              <a:t>HYPOGLYCEMIA • Low glucose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38528"/>
            <a:ext cx="49286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Symptom education</a:t>
            </a:r>
          </a:p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Immediate first-aid information</a:t>
            </a:r>
          </a:p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Caregiver / emergency-contact alert</a:t>
            </a:r>
          </a:p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Escalate severe or persistent symptoms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1920240"/>
          </a:xfrm>
          <a:prstGeom prst="roundRect">
            <a:avLst/>
          </a:prstGeom>
          <a:solidFill>
            <a:srgbClr val="FFF1E5"/>
          </a:solidFill>
          <a:ln w="15240">
            <a:solidFill>
              <a:srgbClr val="EE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27048"/>
            <a:ext cx="49286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E7E37"/>
                </a:solidFill>
              </a:defRPr>
            </a:pPr>
            <a:r>
              <a:t>HYPERGLYCEMIA • High glucose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38528"/>
            <a:ext cx="4928616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Warning-sign education</a:t>
            </a:r>
          </a:p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When to contact the care team</a:t>
            </a:r>
          </a:p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Sick-day guidance where appropriate</a:t>
            </a:r>
          </a:p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Ketone-testing information when clinically relevant</a:t>
            </a:r>
          </a:p>
        </p:txBody>
      </p:sp>
      <p:sp>
        <p:nvSpPr>
          <p:cNvPr id="12" name="Oval 11"/>
          <p:cNvSpPr/>
          <p:nvPr/>
        </p:nvSpPr>
        <p:spPr>
          <a:xfrm>
            <a:off x="1828800" y="3977639"/>
            <a:ext cx="822960" cy="822960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986783"/>
            <a:ext cx="822960" cy="8046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4389120"/>
            <a:ext cx="1737360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12080" y="3977639"/>
            <a:ext cx="822960" cy="822960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986783"/>
            <a:ext cx="822960" cy="8046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SAFE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4389120"/>
            <a:ext cx="1737360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595360" y="3977639"/>
            <a:ext cx="822960" cy="822960"/>
          </a:xfrm>
          <a:prstGeom prst="ellipse">
            <a:avLst/>
          </a:prstGeom>
          <a:solidFill>
            <a:srgbClr val="EE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3986783"/>
            <a:ext cx="822960" cy="8046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83480"/>
            <a:ext cx="8778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3753"/>
                </a:solidFill>
              </a:defRPr>
            </a:pPr>
            <a:r>
              <a:t>Patient → Latrocore safety guidance → Caregiver / Pharmacist → Doctor / Emergency service when needed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4. Diabetes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A conversational layer for medication information, education and care navigation.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035040" cy="822960"/>
          </a:xfrm>
          <a:prstGeom prst="round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5669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C"/>
                </a:solidFill>
              </a:defRPr>
            </a:pPr>
            <a:r>
              <a:t>Can I take this medicine with my diabetes tablets?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331720"/>
            <a:ext cx="6035040" cy="822960"/>
          </a:xfrm>
          <a:prstGeom prst="roundRect">
            <a:avLst/>
          </a:prstGeom>
          <a:solidFill>
            <a:srgbClr val="E2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496312"/>
            <a:ext cx="5669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C"/>
                </a:solidFill>
              </a:defRPr>
            </a:pPr>
            <a:r>
              <a:t>I can explain known interaction information and tell you when a pharmacist/doctor should review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6035040" cy="822960"/>
          </a:xfrm>
          <a:prstGeom prst="roundRect">
            <a:avLst/>
          </a:prstGeom>
          <a:solidFill>
            <a:srgbClr val="FFF1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5669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C"/>
                </a:solidFill>
              </a:defRPr>
            </a:pPr>
            <a:r>
              <a:t>I missed my diabetes medicine. What should I do?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4434840"/>
            <a:ext cx="6035040" cy="822960"/>
          </a:xfrm>
          <a:prstGeom prst="roundRect">
            <a:avLst/>
          </a:prstGeom>
          <a:solidFill>
            <a:srgbClr val="F1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4599431"/>
            <a:ext cx="56692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82C"/>
                </a:solidFill>
              </a:defRPr>
            </a:pPr>
            <a:r>
              <a:t>I can explain general missed-dose guidance, but the exact action depends on the medicine and prescription.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698480" y="1508760"/>
            <a:ext cx="777240" cy="777240"/>
          </a:xfrm>
          <a:prstGeom prst="ellipse">
            <a:avLst/>
          </a:prstGeom>
          <a:solidFill>
            <a:srgbClr val="69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1517904"/>
            <a:ext cx="7772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548640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694C9D"/>
                </a:solidFill>
              </a:defRPr>
            </a:pPr>
            <a:r>
              <a:t>AI = education + navigation +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5. Diabetes Health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A single patient view that combines glucose, medicines, investigations and lifestyle signals.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2743200" cy="4892040"/>
          </a:xfrm>
          <a:prstGeom prst="roundRect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600200"/>
            <a:ext cx="2505456" cy="4325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918F"/>
                </a:solidFill>
              </a:defRPr>
            </a:pPr>
            <a:r>
              <a:t>LATROCORE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48839"/>
            <a:ext cx="2286000" cy="658368"/>
          </a:xfrm>
          <a:prstGeom prst="roundRect">
            <a:avLst/>
          </a:prstGeom>
          <a:solidFill>
            <a:srgbClr val="E2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40280"/>
            <a:ext cx="204825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Fasting glucose</a:t>
            </a:r>
            <a:br/>
            <a:r>
              <a:t>112 mg/dL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017520"/>
            <a:ext cx="2286000" cy="914400"/>
          </a:xfrm>
          <a:prstGeom prst="rect">
            <a:avLst/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905256" y="3502152"/>
            <a:ext cx="301752" cy="201168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07008" y="3502152"/>
            <a:ext cx="301752" cy="109727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3291840"/>
            <a:ext cx="310896" cy="320039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19656" y="3291840"/>
            <a:ext cx="310896" cy="13716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4133087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Medication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07408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Activity     30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681728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D6972"/>
                </a:solidFill>
              </a:defRPr>
            </a:pPr>
            <a:r>
              <a:t>Next review  14 Oct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1417320"/>
            <a:ext cx="3337560" cy="11430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13631" y="15270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918F"/>
                </a:solidFill>
              </a:defRPr>
            </a:pPr>
            <a:r>
              <a:t>Fasting glucose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1938528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23282C"/>
                </a:solidFill>
              </a:defRPr>
            </a:pPr>
            <a:r>
              <a:t>• 112 mg/dL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1417320"/>
            <a:ext cx="3337560" cy="11430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1" y="15270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69AA"/>
                </a:solidFill>
              </a:defRPr>
            </a:pPr>
            <a:r>
              <a:t>HbA1c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1" y="1938528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23282C"/>
                </a:solidFill>
              </a:defRPr>
            </a:pPr>
            <a:r>
              <a:t>• 7.1 %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2834640"/>
            <a:ext cx="3337560" cy="11430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13631" y="294436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19153"/>
                </a:solidFill>
              </a:defRPr>
            </a:pPr>
            <a:r>
              <a:t>Adherence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1" y="3355848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23282C"/>
                </a:solidFill>
              </a:defRPr>
            </a:pPr>
            <a:r>
              <a:t>• 92 %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59" y="2834640"/>
            <a:ext cx="3337560" cy="11430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EE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1" y="294436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E7E37"/>
                </a:solidFill>
              </a:defRPr>
            </a:pPr>
            <a:r>
              <a:t>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6951" y="3355848"/>
            <a:ext cx="30083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23282C"/>
                </a:solidFill>
              </a:defRPr>
            </a:pPr>
            <a:r>
              <a:t>• 30 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49039" y="4389120"/>
            <a:ext cx="7040880" cy="1325880"/>
          </a:xfrm>
          <a:prstGeom prst="roundRect">
            <a:avLst/>
          </a:prstGeom>
          <a:solidFill>
            <a:srgbClr val="E8F1FB"/>
          </a:solidFill>
          <a:ln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39" y="4553712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3753"/>
                </a:solidFill>
              </a:defRPr>
            </a:pPr>
            <a:r>
              <a:t>30-day glucose trend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069080" y="5074920"/>
            <a:ext cx="640080" cy="36576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09160" y="5074920"/>
            <a:ext cx="640080" cy="18288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349240" y="4800600"/>
            <a:ext cx="640080" cy="45720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89320" y="4800600"/>
            <a:ext cx="640080" cy="18288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629400" y="4617720"/>
            <a:ext cx="640080" cy="36576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269480" y="4617720"/>
            <a:ext cx="640080" cy="18288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7909560" y="4526280"/>
            <a:ext cx="640080" cy="27432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49640" y="4526280"/>
            <a:ext cx="640080" cy="13716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189720" y="4343400"/>
            <a:ext cx="640080" cy="32004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829800" y="4343400"/>
            <a:ext cx="594360" cy="182880"/>
          </a:xfrm>
          <a:prstGeom prst="line">
            <a:avLst/>
          </a:prstGeom>
          <a:ln w="3175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6. Diabetes Investigation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Keep clinically relevant laboratory and screening information in one timeline.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566928" cy="566928"/>
          </a:xfrm>
          <a:prstGeom prst="ellipse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0744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1325880"/>
            <a:ext cx="3886200" cy="713232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3351" y="1435607"/>
            <a:ext cx="3557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69AA"/>
                </a:solidFill>
              </a:defRPr>
            </a:pPr>
            <a:r>
              <a:t>HbA1c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1" y="1847088"/>
            <a:ext cx="3557016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3282C"/>
                </a:solidFill>
              </a:defRPr>
            </a:pPr>
            <a:r>
              <a:t>• Glycemic trend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304288"/>
            <a:ext cx="566928" cy="566928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13432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258568"/>
            <a:ext cx="3886200" cy="713232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1" y="2368296"/>
            <a:ext cx="3557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918F"/>
                </a:solidFill>
              </a:defRPr>
            </a:pPr>
            <a:r>
              <a:t>Fasting / post-meal glucose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1" y="2779776"/>
            <a:ext cx="3557016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3282C"/>
                </a:solidFill>
              </a:defRPr>
            </a:pPr>
            <a:r>
              <a:t>• Current glucose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236976"/>
            <a:ext cx="566928" cy="566928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191256"/>
            <a:ext cx="3886200" cy="713232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73351" y="3300984"/>
            <a:ext cx="3557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D4141"/>
                </a:solidFill>
              </a:defRPr>
            </a:pPr>
            <a:r>
              <a:t>Lipid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3351" y="3712464"/>
            <a:ext cx="3557016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3282C"/>
                </a:solidFill>
              </a:defRPr>
            </a:pPr>
            <a:r>
              <a:t>• Cardiovascular risk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169664"/>
            <a:ext cx="566928" cy="566928"/>
          </a:xfrm>
          <a:prstGeom prst="ellipse">
            <a:avLst/>
          </a:prstGeom>
          <a:solidFill>
            <a:srgbClr val="69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78808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4123944"/>
            <a:ext cx="3886200" cy="713232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694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73351" y="4233672"/>
            <a:ext cx="3557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4C9D"/>
                </a:solidFill>
              </a:defRPr>
            </a:pPr>
            <a:r>
              <a:t>Creatinine / eGFR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1" y="4645152"/>
            <a:ext cx="3557016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3282C"/>
                </a:solidFill>
              </a:defRPr>
            </a:pPr>
            <a:r>
              <a:t>• Kidney function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5102352"/>
            <a:ext cx="566928" cy="56692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111496"/>
            <a:ext cx="5669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5056632"/>
            <a:ext cx="3886200" cy="713232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73351" y="5166360"/>
            <a:ext cx="3557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19153"/>
                </a:solidFill>
              </a:defRPr>
            </a:pPr>
            <a:r>
              <a:t>Urine albumin / ACR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1" y="5577840"/>
            <a:ext cx="3557016" cy="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3282C"/>
                </a:solidFill>
              </a:defRPr>
            </a:pPr>
            <a:r>
              <a:t>• Kidney screening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92240" y="1600200"/>
            <a:ext cx="0" cy="3931920"/>
          </a:xfrm>
          <a:prstGeom prst="line">
            <a:avLst/>
          </a:prstGeom>
          <a:ln w="3810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172200" y="1325880"/>
            <a:ext cx="640080" cy="64008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335024"/>
            <a:ext cx="6400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6995160" y="1307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JAN  •  HbA1c</a:t>
            </a:r>
          </a:p>
          <a:p>
            <a:pPr>
              <a:defRPr sz="1050">
                <a:solidFill>
                  <a:srgbClr val="5D6972"/>
                </a:solidFill>
              </a:defRPr>
            </a:pPr>
            <a:r>
              <a:t>7.6%</a:t>
            </a:r>
          </a:p>
        </p:txBody>
      </p:sp>
      <p:sp>
        <p:nvSpPr>
          <p:cNvPr id="35" name="Oval 34"/>
          <p:cNvSpPr/>
          <p:nvPr/>
        </p:nvSpPr>
        <p:spPr>
          <a:xfrm>
            <a:off x="6172200" y="2560320"/>
            <a:ext cx="640080" cy="64008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2569463"/>
            <a:ext cx="6400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6995160" y="254203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APR  •  HbA1c</a:t>
            </a:r>
          </a:p>
          <a:p>
            <a:pPr>
              <a:defRPr sz="1050">
                <a:solidFill>
                  <a:srgbClr val="5D6972"/>
                </a:solidFill>
              </a:defRPr>
            </a:pPr>
            <a:r>
              <a:t>7.3%</a:t>
            </a:r>
          </a:p>
        </p:txBody>
      </p:sp>
      <p:sp>
        <p:nvSpPr>
          <p:cNvPr id="38" name="Oval 37"/>
          <p:cNvSpPr/>
          <p:nvPr/>
        </p:nvSpPr>
        <p:spPr>
          <a:xfrm>
            <a:off x="6172200" y="3794760"/>
            <a:ext cx="640080" cy="64008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3803904"/>
            <a:ext cx="6400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6995160" y="377647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JUL  •  HbA1c</a:t>
            </a:r>
          </a:p>
          <a:p>
            <a:pPr>
              <a:defRPr sz="1050">
                <a:solidFill>
                  <a:srgbClr val="5D6972"/>
                </a:solidFill>
              </a:defRPr>
            </a:pPr>
            <a:r>
              <a:t>7.1%</a:t>
            </a:r>
          </a:p>
        </p:txBody>
      </p:sp>
      <p:sp>
        <p:nvSpPr>
          <p:cNvPr id="41" name="Oval 40"/>
          <p:cNvSpPr/>
          <p:nvPr/>
        </p:nvSpPr>
        <p:spPr>
          <a:xfrm>
            <a:off x="6172200" y="5029200"/>
            <a:ext cx="640080" cy="64008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5038344"/>
            <a:ext cx="6400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6995160" y="501091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3753"/>
                </a:solidFill>
              </a:defRPr>
            </a:pPr>
            <a:r>
              <a:t>OCT  •  Review</a:t>
            </a:r>
          </a:p>
          <a:p>
            <a:pPr>
              <a:defRPr sz="1050">
                <a:solidFill>
                  <a:srgbClr val="5D6972"/>
                </a:solidFill>
              </a:defRPr>
            </a:pPr>
            <a:r>
              <a:t>Due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7. Diabetes Complication Screening Reminders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Turn routine follow-up into a visible checklist.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6002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69AA"/>
                </a:solidFill>
              </a:defRPr>
            </a:pPr>
            <a:r>
              <a:t>EYES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38528"/>
            <a:ext cx="300837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Retinal / eye examination</a:t>
            </a:r>
          </a:p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Reminder + completion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6002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EE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E7E37"/>
                </a:solidFill>
              </a:defRPr>
            </a:pPr>
            <a:r>
              <a:t>FEET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938528"/>
            <a:ext cx="300837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Foot examination</a:t>
            </a:r>
          </a:p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Reminder + completion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6002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5270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918F"/>
                </a:solidFill>
              </a:defRPr>
            </a:pPr>
            <a:r>
              <a:t>KIDNEYS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1938528"/>
            <a:ext cx="300837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Kidney assessment</a:t>
            </a:r>
          </a:p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Reminder + completion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3337560" cy="16002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844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D4141"/>
                </a:solidFill>
              </a:defRPr>
            </a:pPr>
            <a:r>
              <a:t>HEART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995928"/>
            <a:ext cx="300837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Cardiovascular risk / BP</a:t>
            </a:r>
          </a:p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Reminder + completion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74720"/>
            <a:ext cx="3337560" cy="16002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694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1" y="35844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94C9D"/>
                </a:solidFill>
              </a:defRPr>
            </a:pPr>
            <a:r>
              <a:t>MOUTH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1" y="3995928"/>
            <a:ext cx="300837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Dental / oral health</a:t>
            </a:r>
          </a:p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Reminder + completion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474720"/>
            <a:ext cx="3337560" cy="160020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3584448"/>
            <a:ext cx="30083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19153"/>
                </a:solidFill>
              </a:defRPr>
            </a:pPr>
            <a:r>
              <a:t>VACCINES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3995928"/>
            <a:ext cx="300837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Vaccination reminders</a:t>
            </a:r>
          </a:p>
          <a:p>
            <a:pPr>
              <a:spcAft>
                <a:spcPts val="300"/>
              </a:spcAft>
              <a:defRPr sz="1050">
                <a:solidFill>
                  <a:srgbClr val="23282C"/>
                </a:solidFill>
              </a:defRPr>
            </a:pPr>
            <a:r>
              <a:t>• Reminder + completion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03753"/>
                </a:solidFill>
              </a:defRPr>
            </a:pPr>
            <a:r>
              <a:t>Design principle: remind and coordinate care — do not diagnose complications inside the reminder feature.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8. Food &amp; Lifestyle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Keep lifestyle tracking simple and connect it to glucose and medication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49240" y="2057400"/>
            <a:ext cx="1143000" cy="1143000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2066543"/>
            <a:ext cx="1143000" cy="1124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DAY</a:t>
            </a:r>
          </a:p>
        </p:txBody>
      </p:sp>
      <p:sp>
        <p:nvSpPr>
          <p:cNvPr id="8" name="Oval 7"/>
          <p:cNvSpPr/>
          <p:nvPr/>
        </p:nvSpPr>
        <p:spPr>
          <a:xfrm>
            <a:off x="1828800" y="1600200"/>
            <a:ext cx="777240" cy="777240"/>
          </a:xfrm>
          <a:prstGeom prst="ellipse">
            <a:avLst/>
          </a:prstGeom>
          <a:solidFill>
            <a:srgbClr val="EE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609344"/>
            <a:ext cx="7772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1984248"/>
            <a:ext cx="3319272" cy="649224"/>
          </a:xfrm>
          <a:prstGeom prst="line">
            <a:avLst/>
          </a:prstGeom>
          <a:ln w="1905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45920" y="24688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MEAL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0" y="1600200"/>
            <a:ext cx="777240" cy="777240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09344"/>
            <a:ext cx="7772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ACTIVITY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925312" y="1984248"/>
            <a:ext cx="2487168" cy="649224"/>
          </a:xfrm>
          <a:prstGeom prst="line">
            <a:avLst/>
          </a:prstGeom>
          <a:ln w="1905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0" y="246888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ACTIVITY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3977639"/>
            <a:ext cx="777240" cy="777240"/>
          </a:xfrm>
          <a:prstGeom prst="ellipse">
            <a:avLst/>
          </a:prstGeom>
          <a:solidFill>
            <a:srgbClr val="69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3986783"/>
            <a:ext cx="7772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SLEEP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606040" y="2633472"/>
            <a:ext cx="3319272" cy="1728216"/>
          </a:xfrm>
          <a:prstGeom prst="line">
            <a:avLst/>
          </a:prstGeom>
          <a:ln w="1905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645920" y="48463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SLEEP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0" y="3977639"/>
            <a:ext cx="777240" cy="777240"/>
          </a:xfrm>
          <a:prstGeom prst="ellipse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986783"/>
            <a:ext cx="77724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WEIGHT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5925312" y="2633472"/>
            <a:ext cx="2487168" cy="1728216"/>
          </a:xfrm>
          <a:prstGeom prst="line">
            <a:avLst/>
          </a:prstGeom>
          <a:ln w="1905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0" y="48463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5D6972"/>
                </a:solidFill>
              </a:defRPr>
            </a:pPr>
            <a:r>
              <a:t>WEIGHT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4617720"/>
            <a:ext cx="4160520" cy="1005840"/>
          </a:xfrm>
          <a:prstGeom prst="roundRect">
            <a:avLst/>
          </a:prstGeom>
          <a:solidFill>
            <a:srgbClr val="E2F6F4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9352" y="4727448"/>
            <a:ext cx="38313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918F"/>
                </a:solidFill>
              </a:defRPr>
            </a:pPr>
            <a:r>
              <a:t>Pattern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59352" y="5138928"/>
            <a:ext cx="3831335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3282C"/>
                </a:solidFill>
              </a:defRPr>
            </a:pPr>
            <a:r>
              <a:t>• Meal → glucose → activity → trend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9. Doctor–Pharmacist–Patient Diabetes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Latrocore's strongest differentiator: connect the three care roles around one shared medication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92040" y="1325880"/>
            <a:ext cx="2148840" cy="1097280"/>
          </a:xfrm>
          <a:prstGeom prst="roundRect">
            <a:avLst/>
          </a:prstGeom>
          <a:solidFill>
            <a:srgbClr val="F6F8F9"/>
          </a:solidFill>
          <a:ln w="25400">
            <a:solidFill>
              <a:srgbClr val="10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79" y="1463039"/>
            <a:ext cx="1965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03753"/>
                </a:solidFill>
              </a:defRPr>
            </a:pPr>
            <a:r>
              <a:t>DOCTOR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Prescribe</a:t>
            </a:r>
            <a:br/>
            <a:r>
              <a:t>Set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743200"/>
            <a:ext cx="2148840" cy="1097280"/>
          </a:xfrm>
          <a:prstGeom prst="roundRect">
            <a:avLst/>
          </a:prstGeom>
          <a:solidFill>
            <a:srgbClr val="F6F8F9"/>
          </a:solidFill>
          <a:ln w="2540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880360"/>
            <a:ext cx="1965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6918F"/>
                </a:solidFill>
              </a:defRPr>
            </a:pPr>
            <a:r>
              <a:t>PATIENT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Record</a:t>
            </a:r>
            <a:br/>
            <a:r>
              <a:t>Follow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343400"/>
            <a:ext cx="2148840" cy="1097280"/>
          </a:xfrm>
          <a:prstGeom prst="roundRect">
            <a:avLst/>
          </a:prstGeom>
          <a:solidFill>
            <a:srgbClr val="F6F8F9"/>
          </a:solidFill>
          <a:ln w="25400">
            <a:solidFill>
              <a:srgbClr val="694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79" y="4480560"/>
            <a:ext cx="1965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4C9D"/>
                </a:solidFill>
              </a:defRPr>
            </a:pPr>
            <a:r>
              <a:t>AI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Organize</a:t>
            </a:r>
            <a:br/>
            <a:r>
              <a:t>Educate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19" y="2743200"/>
            <a:ext cx="2148840" cy="1097280"/>
          </a:xfrm>
          <a:prstGeom prst="roundRect">
            <a:avLst/>
          </a:prstGeom>
          <a:solidFill>
            <a:srgbClr val="F6F8F9"/>
          </a:solidFill>
          <a:ln w="2540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880360"/>
            <a:ext cx="1965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419153"/>
                </a:solidFill>
              </a:defRPr>
            </a:pPr>
            <a:r>
              <a:t>PHARMACIST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Review</a:t>
            </a:r>
            <a:br/>
            <a:r>
              <a:t>Counsel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80" y="1874519"/>
            <a:ext cx="868680" cy="1280161"/>
          </a:xfrm>
          <a:prstGeom prst="line">
            <a:avLst/>
          </a:prstGeom>
          <a:ln w="2540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040880" y="3840480"/>
            <a:ext cx="1920240" cy="1051560"/>
          </a:xfrm>
          <a:prstGeom prst="line">
            <a:avLst/>
          </a:prstGeom>
          <a:ln w="2540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4023360" y="3840480"/>
            <a:ext cx="868680" cy="1051560"/>
          </a:xfrm>
          <a:prstGeom prst="line">
            <a:avLst/>
          </a:prstGeom>
          <a:ln w="2540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023360" y="1874519"/>
            <a:ext cx="868680" cy="1417321"/>
          </a:xfrm>
          <a:prstGeom prst="line">
            <a:avLst/>
          </a:prstGeom>
          <a:ln w="25400">
            <a:solidFill>
              <a:srgbClr val="1691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86200" y="27432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03753"/>
                </a:solidFill>
              </a:defRPr>
            </a:pPr>
            <a:r>
              <a:t>ONE SHARED</a:t>
            </a:r>
            <a:br/>
            <a:r>
              <a:t>CARE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10. Diabetes Care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A progress checklist — not a clinical judgment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77824" y="1435607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444751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453895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Medication adherence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64224" y="1435607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444751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1453895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Glucose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402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" y="23500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3591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3682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HbA1c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402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64224" y="23500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23591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23682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Blood-pressure tracking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546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7824" y="32644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2735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32826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Kidney monitoring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1546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64224" y="32644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32735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2826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Eye screening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0690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41788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1879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41970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Foot care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690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64224" y="41788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41879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41970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Lifestyle / activity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9834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7824" y="50932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51023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752" y="51114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Prescription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983480"/>
            <a:ext cx="5074920" cy="658368"/>
          </a:xfrm>
          <a:prstGeom prst="roundRect">
            <a:avLst/>
          </a:prstGeom>
          <a:solidFill>
            <a:srgbClr val="EAF7EB"/>
          </a:solidFill>
          <a:ln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64224" y="5093208"/>
            <a:ext cx="429768" cy="4297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5102352"/>
            <a:ext cx="429768" cy="41147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5111496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03753"/>
                </a:solidFill>
              </a:defRPr>
            </a:pPr>
            <a:r>
              <a:t>Follow-up appointment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11. Business Model Canvas — Diabetes Additions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Where the diabetes module fits into the existing Latrocore business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70048" cy="438912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35607"/>
            <a:ext cx="23408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6918F"/>
                </a:solidFill>
              </a:defRPr>
            </a:pPr>
            <a:r>
              <a:t>VALUE PROPOSITION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2340864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Personalized diabetes medication management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Glucose + HbA1c tracking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AI medication &amp; interaction information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Safety support + screening reminders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325880"/>
            <a:ext cx="2670048" cy="438912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435607"/>
            <a:ext cx="23408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69AA"/>
                </a:solidFill>
              </a:defRPr>
            </a:pPr>
            <a:r>
              <a:t>KEY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1847088"/>
            <a:ext cx="2340864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Diabetes monitoring development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Medication database management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Clinical decision-support validation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Patient education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325880"/>
            <a:ext cx="2670048" cy="438912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694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435607"/>
            <a:ext cx="23408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4C9D"/>
                </a:solidFill>
              </a:defRPr>
            </a:pPr>
            <a:r>
              <a:t>KEY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1847088"/>
            <a:ext cx="2340864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Diabetes knowledge base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Glucose / CGM integration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Clinical experts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Validated algorithms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26296" y="1325880"/>
            <a:ext cx="2670048" cy="438912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EE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0888" y="1435607"/>
            <a:ext cx="23408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E7E37"/>
                </a:solidFill>
              </a:defRPr>
            </a:pPr>
            <a:r>
              <a:t>REVENUE STREAMS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1847088"/>
            <a:ext cx="2340864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Diabetes Care Premium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Hospital / clinic subscriptions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Enterprise licensing</a:t>
            </a:r>
          </a:p>
          <a:p>
            <a:pPr>
              <a:spcAft>
                <a:spcPts val="300"/>
              </a:spcAft>
              <a:defRPr sz="1019">
                <a:solidFill>
                  <a:srgbClr val="23282C"/>
                </a:solidFill>
              </a:defRPr>
            </a:pPr>
            <a:r>
              <a:t>• Pharmacy partnerships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12. Proposed Latrocore Diabetes App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A simple patient journey from prescription to long-term monitoring.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1417320"/>
            <a:ext cx="658368" cy="658368"/>
          </a:xfrm>
          <a:prstGeom prst="ellipse">
            <a:avLst/>
          </a:prstGeom>
          <a:solidFill>
            <a:srgbClr val="10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426464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3753"/>
                </a:solidFill>
              </a:defRPr>
            </a:pPr>
            <a:r>
              <a:t>Prescription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Doctor creates / updates prescription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47672" y="1746504"/>
            <a:ext cx="932688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566160" y="1417320"/>
            <a:ext cx="658368" cy="658368"/>
          </a:xfrm>
          <a:prstGeom prst="ellipse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26464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402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918F"/>
                </a:solidFill>
              </a:defRPr>
            </a:pPr>
            <a:r>
              <a:t>Medication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Schedule + reminders + safety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33672" y="1746504"/>
            <a:ext cx="932688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852160" y="1417320"/>
            <a:ext cx="658368" cy="658368"/>
          </a:xfrm>
          <a:prstGeom prst="ellipse">
            <a:avLst/>
          </a:prstGeom>
          <a:solidFill>
            <a:srgbClr val="2E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426464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2402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69AA"/>
                </a:solidFill>
              </a:defRPr>
            </a:pPr>
            <a:r>
              <a:t>Monitor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Glucose + HbA1c + lifestyle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19672" y="1746504"/>
            <a:ext cx="932688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38160" y="1417320"/>
            <a:ext cx="658368" cy="658368"/>
          </a:xfrm>
          <a:prstGeom prst="ellipse">
            <a:avLst/>
          </a:prstGeom>
          <a:solidFill>
            <a:srgbClr val="694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426464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2402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94C9D"/>
                </a:solidFill>
              </a:defRPr>
            </a:pPr>
            <a:r>
              <a:t>AI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Questions + education + navigation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05672" y="1746504"/>
            <a:ext cx="932688" cy="0"/>
          </a:xfrm>
          <a:prstGeom prst="line">
            <a:avLst/>
          </a:prstGeom>
          <a:ln w="25400">
            <a:solidFill>
              <a:srgbClr val="5D69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424160" y="1417320"/>
            <a:ext cx="658368" cy="658368"/>
          </a:xfrm>
          <a:prstGeom prst="ellipse">
            <a:avLst/>
          </a:prstGeom>
          <a:solidFill>
            <a:srgbClr val="419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1426464"/>
            <a:ext cx="658368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60" y="2240280"/>
            <a:ext cx="2057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19153"/>
                </a:solidFill>
              </a:defRPr>
            </a:pPr>
            <a:r>
              <a:t>Review</a:t>
            </a:r>
          </a:p>
          <a:p>
            <a:pPr algn="ctr">
              <a:defRPr sz="950">
                <a:solidFill>
                  <a:srgbClr val="5D6972"/>
                </a:solidFill>
              </a:defRPr>
            </a:pPr>
            <a:r>
              <a:t>Pharmacist + doctor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886200"/>
            <a:ext cx="10149840" cy="1417320"/>
          </a:xfrm>
          <a:prstGeom prst="roundRect">
            <a:avLst/>
          </a:prstGeom>
          <a:solidFill>
            <a:srgbClr val="E2F6F4"/>
          </a:solidFill>
          <a:ln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187952"/>
            <a:ext cx="95097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3753"/>
                </a:solidFill>
              </a:defRPr>
            </a:pPr>
            <a:r>
              <a:t>LATROCORE</a:t>
            </a:r>
          </a:p>
          <a:p>
            <a:pPr algn="ctr">
              <a:defRPr sz="1300" b="1">
                <a:solidFill>
                  <a:srgbClr val="16918F"/>
                </a:solidFill>
              </a:defRPr>
            </a:pPr>
            <a:r>
              <a:t>Prescription → Medicine → Monitoring → AI → Pharmacist → Doctor → 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Clinical &amp; Product Safety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Important boundaries for the diabetes module.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1874519"/>
          </a:xfrm>
          <a:prstGeom prst="roundRect">
            <a:avLst/>
          </a:prstGeom>
          <a:solidFill>
            <a:srgbClr val="FCEBEB"/>
          </a:solidFill>
          <a:ln w="1524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30998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D4141"/>
                </a:solidFill>
              </a:defRPr>
            </a:pPr>
            <a:r>
              <a:t>Clinical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AI should provide education and navigation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Medication changes require clinician authorization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Urgent symptoms need escalation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1874519"/>
          </a:xfrm>
          <a:prstGeom prst="roundRect">
            <a:avLst/>
          </a:prstGeom>
          <a:solidFill>
            <a:srgbClr val="E8F1FB"/>
          </a:solidFill>
          <a:ln w="15240">
            <a:solidFill>
              <a:srgbClr val="2E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481328"/>
            <a:ext cx="30998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69AA"/>
                </a:solidFill>
              </a:defRPr>
            </a:pPr>
            <a:r>
              <a:t>Data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92807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Protect medical records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Role-based access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Secure storage and transmission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Audit important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429000" cy="1874519"/>
          </a:xfrm>
          <a:prstGeom prst="roundRect">
            <a:avLst/>
          </a:prstGeom>
          <a:solidFill>
            <a:srgbClr val="EAF7EB"/>
          </a:solidFill>
          <a:ln w="15240">
            <a:solidFill>
              <a:srgbClr val="419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1" y="1481328"/>
            <a:ext cx="30998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19153"/>
                </a:solidFill>
              </a:defRPr>
            </a:pPr>
            <a:r>
              <a:t>Product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92807"/>
            <a:ext cx="309981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Clinically validate alerts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Avoid false reassurance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Show uncertainty when needed</a:t>
            </a:r>
          </a:p>
          <a:p>
            <a:pPr>
              <a:spcAft>
                <a:spcPts val="300"/>
              </a:spcAft>
              <a:defRPr sz="1100">
                <a:solidFill>
                  <a:srgbClr val="23282C"/>
                </a:solidFill>
              </a:defRPr>
            </a:pPr>
            <a:r>
              <a:t>• Keep humans in the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3753"/>
                </a:solidFill>
              </a:defRPr>
            </a:pPr>
            <a:r>
              <a:t>Design goal</a:t>
            </a:r>
          </a:p>
          <a:p>
            <a:pPr algn="ctr">
              <a:defRPr sz="1400">
                <a:solidFill>
                  <a:srgbClr val="5D6972"/>
                </a:solidFill>
              </a:defRPr>
            </a:pPr>
            <a:r>
              <a:t>Support safer, more organized diabetes care — without presenting Latrocore as a replacement for doctors, pharmacists or emergency 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03753"/>
                </a:solidFill>
              </a:rPr>
              <a:t>References &amp; Visual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68096"/>
            <a:ext cx="10881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D6972"/>
                </a:solidFill>
              </a:rPr>
              <a:t>Official health sources used for the clinical framing and visual concepts.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6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CDC — Diabetes: monitoring, treatment, medication management and care schedule.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CDC — Monitoring Your Blood Sugar (2024).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CDC — Continuous Glucose Monitors (updated 2025).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CDC — How Diabetes Can Affect Your Body infographic (2024).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CDC — Tips for Healthy Feet graphic (2024).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CDC Public Health Image Library — Blood glucose self-monitoring image (public domain).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WHO — Diabetes fact sheet (2024).</a:t>
            </a:r>
          </a:p>
          <a:p>
            <a:pPr>
              <a:spcAft>
                <a:spcPts val="800"/>
              </a:spcAft>
              <a:defRPr sz="1300">
                <a:solidFill>
                  <a:srgbClr val="23282C"/>
                </a:solidFill>
              </a:defRPr>
            </a:pPr>
            <a:r>
              <a:t>• WHO South-East Asia Region — Type 2 Diabetes Management Protocol / India-oriented protocol.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257800"/>
            <a:ext cx="10515600" cy="777240"/>
          </a:xfrm>
          <a:prstGeom prst="roundRect">
            <a:avLst/>
          </a:prstGeom>
          <a:solidFill>
            <a:srgbClr val="E2F6F4"/>
          </a:solidFill>
          <a:ln w="15240">
            <a:solidFill>
              <a:srgbClr val="16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367528"/>
            <a:ext cx="101864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6918F"/>
                </a:solidFill>
              </a:defRPr>
            </a:pPr>
            <a:r>
              <a:t>Source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779008"/>
            <a:ext cx="10186416" cy="16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23282C"/>
                </a:solidFill>
              </a:defRPr>
            </a:pPr>
            <a:r>
              <a:t>• Clinical targets, reminders and alerts should be configurable to the patient's clinician-defined care plan and applicable local guidance.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LATROCORE  •  Diabetes Care Module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411480"/>
            <a:ext cx="10972800" cy="594360"/>
          </a:xfrm>
        </p:spPr>
        <p:txBody>
          <a:bodyPr/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Future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Extending LATROCORE into human-led patient counselling and long-term diabetes care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600200"/>
            <a:ext cx="502920" cy="502920"/>
          </a:xfrm>
          <a:prstGeom prst="ellipse">
            <a:avLst/>
          </a:prstGeom>
          <a:solidFill>
            <a:srgbClr val="1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3312" y="1554480"/>
            <a:ext cx="10058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507D"/>
                </a:solidFill>
              </a:defRPr>
            </a:pPr>
            <a:r>
              <a:t>AI → Pharm D Team Follow-Up</a:t>
            </a:r>
          </a:p>
          <a:p>
            <a:pPr>
              <a:defRPr sz="1050">
                <a:solidFill>
                  <a:srgbClr val="37414B"/>
                </a:solidFill>
              </a:defRPr>
            </a:pPr>
            <a:r>
              <a:t>When patients have multiple doubts about their treatment plan or other health concerns after using the AI assistant, our Pharm D graduate team will contact them within a few hours for personalized counselling and clarification.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971800"/>
            <a:ext cx="502920" cy="502920"/>
          </a:xfrm>
          <a:prstGeom prst="ellipse">
            <a:avLst/>
          </a:prstGeom>
          <a:solidFill>
            <a:srgbClr val="1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3312" y="2926080"/>
            <a:ext cx="10058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507D"/>
                </a:solidFill>
              </a:defRPr>
            </a:pPr>
            <a:r>
              <a:t>Doctor → LATROCORE Care Team</a:t>
            </a:r>
          </a:p>
          <a:p>
            <a:pPr>
              <a:defRPr sz="1050">
                <a:solidFill>
                  <a:srgbClr val="37414B"/>
                </a:solidFill>
              </a:defRPr>
            </a:pPr>
            <a:r>
              <a:t>After a doctor prescribes diabetes medication, the patient can be referred to our team for counselling on lifestyle modification, disease understanding, medication use, adherence and ongoing treatment support.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4343400"/>
            <a:ext cx="502920" cy="502920"/>
          </a:xfrm>
          <a:prstGeom prst="ellipse">
            <a:avLst/>
          </a:prstGeom>
          <a:solidFill>
            <a:srgbClr val="1E6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" y="4297680"/>
            <a:ext cx="10058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4507D"/>
                </a:solidFill>
              </a:defRPr>
            </a:pPr>
            <a:r>
              <a:t>Long-Term Diabetes Care</a:t>
            </a:r>
          </a:p>
          <a:p>
            <a:pPr>
              <a:defRPr sz="1050">
                <a:solidFill>
                  <a:srgbClr val="37414B"/>
                </a:solidFill>
              </a:defRPr>
            </a:pPr>
            <a:r>
              <a:t>Our goal is to actively support patients in managing diabetes, improving treatment adherence and lifestyle practices, reducing complications and working toward the best achievable long-term health outcomes under professional medical supervision.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53312" y="5650992"/>
            <a:ext cx="10058400" cy="566928"/>
          </a:xfrm>
          <a:prstGeom prst="roundRect">
            <a:avLst/>
          </a:prstGeom>
          <a:solidFill>
            <a:srgbClr val="E6F0F8"/>
          </a:solidFill>
          <a:ln>
            <a:solidFill>
              <a:srgbClr val="BE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4B6E"/>
                </a:solidFill>
              </a:defRPr>
            </a:pPr>
            <a:r>
              <a:t>AI support + Pharm D counselling + doctor coordination = continuous, patient-centred diabetes care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latin typeface="Aptos Display"/>
              </a:defRPr>
            </a:pPr>
            <a:r>
              <a:t>FUTURE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latin typeface="Aptos"/>
              </a:defRPr>
            </a:pPr>
            <a:r>
              <a:t>Research, Advanced Treatment &amp; AI-Enabled Diabetes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latin typeface="Aptos"/>
              </a:defRPr>
            </a:pPr>
            <a:r>
              <a:t>Research &amp; Development for complete treatment and, where scientifically achievable, complete curing of diseases.</a:t>
            </a:r>
          </a:p>
          <a:p>
            <a:pPr>
              <a:spcAft>
                <a:spcPts val="1600"/>
              </a:spcAft>
              <a:defRPr sz="1600">
                <a:latin typeface="Aptos"/>
              </a:defRPr>
            </a:pPr>
            <a:r>
              <a:t>All diabetes treatment support, recommendations and AI functions will operate within established diabetes clinical guidelines and evidence-based standards.</a:t>
            </a:r>
          </a:p>
          <a:p>
            <a:pPr>
              <a:spcAft>
                <a:spcPts val="1600"/>
              </a:spcAft>
              <a:defRPr sz="1600">
                <a:latin typeface="Aptos"/>
              </a:defRPr>
            </a:pPr>
            <a:r>
              <a:t>AI will support education, monitoring, medication information, risk alerts and care navigation — not independently prescribe or change treatment.</a:t>
            </a:r>
          </a:p>
          <a:p>
            <a:pPr>
              <a:spcAft>
                <a:spcPts val="1600"/>
              </a:spcAft>
              <a:defRPr sz="1600">
                <a:latin typeface="Aptos"/>
              </a:defRPr>
            </a:pPr>
            <a:r>
              <a:t>Treatment decisions and medication changes will remain under qualified doctor / authorized healthcare-professional supervision.</a:t>
            </a:r>
          </a:p>
          <a:p>
            <a:pPr>
              <a:spcAft>
                <a:spcPts val="1600"/>
              </a:spcAft>
              <a:defRPr sz="1600">
                <a:latin typeface="Aptos"/>
              </a:defRPr>
            </a:pPr>
            <a:r>
              <a:t>Continuously update the system as clinical guidelines, medicines, technologies and research evidence evolve.</a:t>
            </a:r>
          </a:p>
          <a:p>
            <a:pPr>
              <a:spcAft>
                <a:spcPts val="1600"/>
              </a:spcAft>
              <a:defRPr sz="1600">
                <a:latin typeface="Aptos"/>
              </a:defRPr>
            </a:pPr>
            <a:r>
              <a:t>Future R&amp;D will focus on disease modification, remission, prevention of complications and new therapeutic approaches.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897880"/>
            <a:ext cx="10058400" cy="502920"/>
          </a:xfrm>
          <a:prstGeom prst="rect">
            <a:avLst/>
          </a:prstGeom>
          <a:solidFill>
            <a:srgbClr val="E8F1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ptos"/>
              </a:defRPr>
            </a:pPr>
            <a:r>
              <a:t>CLINICAL GOVERNANCE  •  Evidence-based guidelines + AI support + Human clinical oversight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latin typeface="Aptos"/>
              </a:defRPr>
            </a:pPr>
            <a:r>
              <a:t>LATROCORE  •  Future Research &amp;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